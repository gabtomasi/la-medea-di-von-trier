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4664" y="2298353"/>
            <a:ext cx="1654671" cy="224879"/>
          </a:xfrm>
          <a:prstGeom prst="roundRect">
            <a:avLst>
              <a:gd name="adj" fmla="val 813237"/>
            </a:avLst>
          </a:prstGeom>
          <a:noFill/>
          <a:ln w="9525">
            <a:solidFill>
              <a:srgbClr val="C9A87A"/>
            </a:solidFill>
          </a:ln>
        </p:spPr>
        <p:txBody>
          <a:bodyPr wrap="square" lIns="95250" tIns="95250" rIns="95250" bIns="95250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C9A87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Analisi cinematografica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452628" y="841028"/>
            <a:ext cx="8238744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25"/>
              </a:lnSpc>
              <a:buNone/>
            </a:pPr>
            <a:r>
              <a:rPr lang="en-US" sz="6750" dirty="0">
                <a:solidFill>
                  <a:srgbClr val="E8E0D5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🎬</a:t>
            </a:r>
            <a:endParaRPr lang="en-US" sz="6750" dirty="0"/>
          </a:p>
        </p:txBody>
      </p:sp>
      <p:sp>
        <p:nvSpPr>
          <p:cNvPr id="4" name="Text 2"/>
          <p:cNvSpPr/>
          <p:nvPr/>
        </p:nvSpPr>
        <p:spPr>
          <a:xfrm>
            <a:off x="452628" y="2645122"/>
            <a:ext cx="8238744" cy="92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60"/>
              </a:lnSpc>
              <a:buNone/>
            </a:pPr>
            <a:r>
              <a:rPr lang="en-US" sz="6600" b="1" dirty="0">
                <a:solidFill>
                  <a:srgbClr val="E8E0D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Medea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452628" y="3643313"/>
            <a:ext cx="8238744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1920" i="1" dirty="0">
                <a:solidFill>
                  <a:srgbClr val="B8A99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Lars von Trier, 1988</a:t>
            </a:r>
            <a:endParaRPr lang="en-US" sz="1920" dirty="0"/>
          </a:p>
        </p:txBody>
      </p:sp>
      <p:sp>
        <p:nvSpPr>
          <p:cNvPr id="6" name="Text 4"/>
          <p:cNvSpPr/>
          <p:nvPr/>
        </p:nvSpPr>
        <p:spPr>
          <a:xfrm>
            <a:off x="452628" y="4130873"/>
            <a:ext cx="82387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A6E65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Il mito antico attraverso l'immagine cinematografica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786110"/>
            <a:ext cx="1566565" cy="224879"/>
          </a:xfrm>
          <a:prstGeom prst="roundRect">
            <a:avLst>
              <a:gd name="adj" fmla="val 813237"/>
            </a:avLst>
          </a:prstGeom>
          <a:noFill/>
          <a:ln w="9525">
            <a:solidFill>
              <a:srgbClr val="C9A87A"/>
            </a:solidFill>
          </a:ln>
        </p:spPr>
        <p:txBody>
          <a:bodyPr wrap="square" lIns="95250" tIns="95250" rIns="95250" bIns="9525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C9A87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Slide 1 — Introduzione</a:t>
            </a:r>
            <a:endParaRPr lang="en-US" sz="78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2047131"/>
            <a:ext cx="571500" cy="190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400" y="3366939"/>
            <a:ext cx="3962400" cy="1009352"/>
          </a:xfrm>
          <a:prstGeom prst="roundRect">
            <a:avLst>
              <a:gd name="adj" fmla="val 72474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C9A87A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648200" y="3366939"/>
            <a:ext cx="3962400" cy="1009352"/>
          </a:xfrm>
          <a:prstGeom prst="roundRect">
            <a:avLst>
              <a:gd name="adj" fmla="val 72474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C9A87A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33400" y="1132880"/>
            <a:ext cx="8238744" cy="7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760"/>
              </a:lnSpc>
              <a:buNone/>
            </a:pPr>
            <a:r>
              <a:rPr lang="en-US" sz="3840" b="1" dirty="0">
                <a:solidFill>
                  <a:srgbClr val="E8E0D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Una </a:t>
            </a:r>
            <a:pPr indent="0" marL="0">
              <a:lnSpc>
                <a:spcPts val="5760"/>
              </a:lnSpc>
              <a:buNone/>
            </a:pPr>
            <a:r>
              <a:rPr lang="en-US" sz="3840" b="1" i="1" dirty="0">
                <a:solidFill>
                  <a:srgbClr val="E8E0D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Medea</a:t>
            </a:r>
            <a:pPr indent="0" marL="0">
              <a:lnSpc>
                <a:spcPts val="5760"/>
              </a:lnSpc>
              <a:buNone/>
            </a:pPr>
            <a:r>
              <a:rPr lang="en-US" sz="3840" b="1" dirty="0">
                <a:solidFill>
                  <a:srgbClr val="E8E0D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cinematografica</a:t>
            </a:r>
            <a:endParaRPr lang="en-US" sz="3840" dirty="0"/>
          </a:p>
        </p:txBody>
      </p:sp>
      <p:sp>
        <p:nvSpPr>
          <p:cNvPr id="7" name="Text 4"/>
          <p:cNvSpPr/>
          <p:nvPr/>
        </p:nvSpPr>
        <p:spPr>
          <a:xfrm>
            <a:off x="533400" y="2218581"/>
            <a:ext cx="6667500" cy="904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76"/>
              </a:lnSpc>
              <a:buNone/>
            </a:pPr>
            <a:r>
              <a:rPr lang="en-US" sz="132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Von Trier non realizza una semplice trasposizione del dramma di Euripide: trasforma il mito attraverso </a:t>
            </a:r>
            <a:pPr indent="0" marL="0">
              <a:lnSpc>
                <a:spcPts val="2376"/>
              </a:lnSpc>
              <a:buNone/>
            </a:pPr>
            <a:r>
              <a:rPr lang="en-US" sz="1320" b="1" dirty="0">
                <a:solidFill>
                  <a:srgbClr val="C9A87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immagini, silenzi e paesaggi</a:t>
            </a:r>
            <a:pPr indent="0" marL="0">
              <a:lnSpc>
                <a:spcPts val="2376"/>
              </a:lnSpc>
              <a:buNone/>
            </a:pPr>
            <a:r>
              <a:rPr lang="en-US" sz="132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, cambiando radicalmente atmosfera, personaggi e significato.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760065" y="3544044"/>
            <a:ext cx="359868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C9A87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Euripide</a:t>
            </a:r>
            <a:endParaRPr lang="en-US" sz="960" dirty="0"/>
          </a:p>
        </p:txBody>
      </p:sp>
      <p:sp>
        <p:nvSpPr>
          <p:cNvPr id="9" name="Text 6"/>
          <p:cNvSpPr/>
          <p:nvPr/>
        </p:nvSpPr>
        <p:spPr>
          <a:xfrm>
            <a:off x="760065" y="3764905"/>
            <a:ext cx="352812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Dialoghi, monologhi, conflitto psicologico esplicito</a:t>
            </a:r>
            <a:endParaRPr lang="en-US" sz="1140" dirty="0"/>
          </a:p>
        </p:txBody>
      </p:sp>
      <p:sp>
        <p:nvSpPr>
          <p:cNvPr id="10" name="Text 7"/>
          <p:cNvSpPr/>
          <p:nvPr/>
        </p:nvSpPr>
        <p:spPr>
          <a:xfrm>
            <a:off x="4874865" y="3544044"/>
            <a:ext cx="359868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8AB4C4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Von Trier</a:t>
            </a:r>
            <a:endParaRPr lang="en-US" sz="960" dirty="0"/>
          </a:p>
        </p:txBody>
      </p:sp>
      <p:sp>
        <p:nvSpPr>
          <p:cNvPr id="11" name="Text 8"/>
          <p:cNvSpPr/>
          <p:nvPr/>
        </p:nvSpPr>
        <p:spPr>
          <a:xfrm>
            <a:off x="4874865" y="3764905"/>
            <a:ext cx="352812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Immagini, silenzi, simboli visivi, paesaggio interiore</a:t>
            </a:r>
            <a:endParaRPr lang="en-US" sz="11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722263"/>
            <a:ext cx="1697385" cy="224879"/>
          </a:xfrm>
          <a:prstGeom prst="roundRect">
            <a:avLst>
              <a:gd name="adj" fmla="val 813237"/>
            </a:avLst>
          </a:prstGeom>
          <a:noFill/>
          <a:ln w="9525">
            <a:solidFill>
              <a:srgbClr val="C9A87A"/>
            </a:solidFill>
          </a:ln>
        </p:spPr>
        <p:txBody>
          <a:bodyPr wrap="square" lIns="95250" tIns="95250" rIns="95250" bIns="9525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C9A87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Slide 2 — Genesi del film</a:t>
            </a:r>
            <a:endParaRPr lang="en-US" sz="78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907232"/>
            <a:ext cx="571500" cy="190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400" y="2851845"/>
            <a:ext cx="2603450" cy="1588294"/>
          </a:xfrm>
          <a:prstGeom prst="roundRect">
            <a:avLst>
              <a:gd name="adj" fmla="val 69085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C9A87A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270200" y="2851845"/>
            <a:ext cx="2603450" cy="1588294"/>
          </a:xfrm>
          <a:prstGeom prst="roundRect">
            <a:avLst>
              <a:gd name="adj" fmla="val 69085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C9A87A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07001" y="2851845"/>
            <a:ext cx="2603599" cy="1588294"/>
          </a:xfrm>
          <a:prstGeom prst="roundRect">
            <a:avLst>
              <a:gd name="adj" fmla="val 69085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C9A87A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33400" y="1069032"/>
            <a:ext cx="8238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E8E0D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Una </a:t>
            </a:r>
            <a:pPr indent="0" marL="0">
              <a:lnSpc>
                <a:spcPts val="5400"/>
              </a:lnSpc>
              <a:buNone/>
            </a:pPr>
            <a:r>
              <a:rPr lang="en-US" sz="3600" b="1" i="1" dirty="0">
                <a:solidFill>
                  <a:srgbClr val="E8E0D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Medea</a:t>
            </a:r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E8E0D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nata quasi per caso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33400" y="2078682"/>
            <a:ext cx="8077200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5"/>
              </a:lnSpc>
              <a:buNone/>
            </a:pPr>
            <a:r>
              <a:rPr lang="en-US" sz="126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Von Trier accetta il progetto non per interesse nel teatro classico, ma per </a:t>
            </a:r>
            <a:pPr indent="0" marL="0">
              <a:lnSpc>
                <a:spcPts val="2205"/>
              </a:lnSpc>
              <a:buNone/>
            </a:pPr>
            <a:r>
              <a:rPr lang="en-US" sz="1260" b="1" dirty="0">
                <a:solidFill>
                  <a:srgbClr val="C9A87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omaggio a Carl Theodor Dreyer</a:t>
            </a:r>
            <a:pPr indent="0" marL="0">
              <a:lnSpc>
                <a:spcPts val="2205"/>
              </a:lnSpc>
              <a:buNone/>
            </a:pPr>
            <a:r>
              <a:rPr lang="en-US" sz="126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, suo maestro spirituale, che aveva scritto la sceneggiatura senza mai poterla girare.</a:t>
            </a:r>
            <a:endParaRPr lang="en-US" sz="1260" dirty="0"/>
          </a:p>
        </p:txBody>
      </p:sp>
      <p:sp>
        <p:nvSpPr>
          <p:cNvPr id="9" name="Text 6"/>
          <p:cNvSpPr/>
          <p:nvPr/>
        </p:nvSpPr>
        <p:spPr>
          <a:xfrm>
            <a:off x="765737" y="3074640"/>
            <a:ext cx="2138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0D5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📜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65737" y="3608040"/>
            <a:ext cx="213877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C9A87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Il mito</a:t>
            </a:r>
            <a:endParaRPr lang="en-US" sz="960" dirty="0"/>
          </a:p>
        </p:txBody>
      </p:sp>
      <p:sp>
        <p:nvSpPr>
          <p:cNvPr id="11" name="Text 8"/>
          <p:cNvSpPr/>
          <p:nvPr/>
        </p:nvSpPr>
        <p:spPr>
          <a:xfrm>
            <a:off x="786705" y="3828901"/>
            <a:ext cx="2096839" cy="38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La tragedia di Euripide come base narrativa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3502537" y="3074640"/>
            <a:ext cx="2138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0D5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🎭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3502537" y="3608040"/>
            <a:ext cx="213877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8AB4C4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Dreyer</a:t>
            </a:r>
            <a:endParaRPr lang="en-US" sz="960" dirty="0"/>
          </a:p>
        </p:txBody>
      </p:sp>
      <p:sp>
        <p:nvSpPr>
          <p:cNvPr id="14" name="Text 11"/>
          <p:cNvSpPr/>
          <p:nvPr/>
        </p:nvSpPr>
        <p:spPr>
          <a:xfrm>
            <a:off x="3523506" y="3828901"/>
            <a:ext cx="2096839" cy="38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La reinterpretazione della sceneggiatura incompiuta</a:t>
            </a:r>
            <a:endParaRPr lang="en-US" sz="1020" dirty="0"/>
          </a:p>
        </p:txBody>
      </p:sp>
      <p:sp>
        <p:nvSpPr>
          <p:cNvPr id="15" name="Text 12"/>
          <p:cNvSpPr/>
          <p:nvPr/>
        </p:nvSpPr>
        <p:spPr>
          <a:xfrm>
            <a:off x="6239336" y="3074640"/>
            <a:ext cx="2138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0D5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👁️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239336" y="3608040"/>
            <a:ext cx="213892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6E8F7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Von Trier</a:t>
            </a:r>
            <a:endParaRPr lang="en-US" sz="960" dirty="0"/>
          </a:p>
        </p:txBody>
      </p:sp>
      <p:sp>
        <p:nvSpPr>
          <p:cNvPr id="17" name="Text 14"/>
          <p:cNvSpPr/>
          <p:nvPr/>
        </p:nvSpPr>
        <p:spPr>
          <a:xfrm>
            <a:off x="6260306" y="3828901"/>
            <a:ext cx="2096988" cy="38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Il linguaggio visivo personale del regista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558552"/>
            <a:ext cx="1635621" cy="224879"/>
          </a:xfrm>
          <a:prstGeom prst="roundRect">
            <a:avLst>
              <a:gd name="adj" fmla="val 813237"/>
            </a:avLst>
          </a:prstGeom>
          <a:noFill/>
          <a:ln w="9525">
            <a:solidFill>
              <a:srgbClr val="C9A87A"/>
            </a:solidFill>
          </a:ln>
        </p:spPr>
        <p:txBody>
          <a:bodyPr wrap="square" lIns="95250" tIns="95250" rIns="95250" bIns="9525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C9A87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Slide 3 — Ambientazione</a:t>
            </a:r>
            <a:endParaRPr lang="en-US" sz="78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743521"/>
            <a:ext cx="571500" cy="190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400" y="3217515"/>
            <a:ext cx="4281041" cy="548432"/>
          </a:xfrm>
          <a:prstGeom prst="roundRect">
            <a:avLst>
              <a:gd name="adj" fmla="val 133384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C9A87A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33400" y="3861197"/>
            <a:ext cx="4281041" cy="742652"/>
          </a:xfrm>
          <a:prstGeom prst="roundRect">
            <a:avLst>
              <a:gd name="adj" fmla="val 98501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C9A87A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33400" y="905321"/>
            <a:ext cx="8238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E8E0D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Dalla Grecia al Nord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33400" y="1914971"/>
            <a:ext cx="4281041" cy="111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5"/>
              </a:lnSpc>
              <a:buNone/>
            </a:pPr>
            <a:r>
              <a:rPr lang="en-US" sz="126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La Grecia mediterranea sparisce. Al suo posto: i </a:t>
            </a:r>
            <a:pPr indent="0" marL="0">
              <a:lnSpc>
                <a:spcPts val="2205"/>
              </a:lnSpc>
              <a:buNone/>
            </a:pPr>
            <a:r>
              <a:rPr lang="en-US" sz="1260" b="1" dirty="0">
                <a:solidFill>
                  <a:srgbClr val="8AB4C4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paesaggi freddi e paludosi dello Jutland danese</a:t>
            </a:r>
            <a:pPr indent="0" marL="0">
              <a:lnSpc>
                <a:spcPts val="2205"/>
              </a:lnSpc>
              <a:buNone/>
            </a:pPr>
            <a:r>
              <a:rPr lang="en-US" sz="126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 Il paesaggio smette di essere sfondo e diventa </a:t>
            </a:r>
            <a:pPr indent="0" marL="0">
              <a:lnSpc>
                <a:spcPts val="2205"/>
              </a:lnSpc>
              <a:buNone/>
            </a:pPr>
            <a:r>
              <a:rPr lang="en-US" sz="1260" i="1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espressione dell'interiorità</a:t>
            </a:r>
            <a:pPr indent="0" marL="0">
              <a:lnSpc>
                <a:spcPts val="2205"/>
              </a:lnSpc>
              <a:buNone/>
            </a:pPr>
            <a:r>
              <a:rPr lang="en-US" sz="126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di Medea.</a:t>
            </a:r>
            <a:endParaRPr lang="en-US" sz="1260" dirty="0"/>
          </a:p>
        </p:txBody>
      </p:sp>
      <p:sp>
        <p:nvSpPr>
          <p:cNvPr id="8" name="Text 5"/>
          <p:cNvSpPr/>
          <p:nvPr/>
        </p:nvSpPr>
        <p:spPr>
          <a:xfrm>
            <a:off x="760065" y="3394621"/>
            <a:ext cx="392369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Mondo nordico, vichingo, primordiale — quasi </a:t>
            </a:r>
            <a:pPr indent="0" marL="0">
              <a:lnSpc>
                <a:spcPts val="1530"/>
              </a:lnSpc>
              <a:buNone/>
            </a:pPr>
            <a:r>
              <a:rPr lang="en-US" sz="1020" i="1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fuori dal tempo</a:t>
            </a:r>
            <a:endParaRPr lang="en-US" sz="1020" dirty="0"/>
          </a:p>
        </p:txBody>
      </p:sp>
      <p:sp>
        <p:nvSpPr>
          <p:cNvPr id="9" name="Text 6"/>
          <p:cNvSpPr/>
          <p:nvPr/>
        </p:nvSpPr>
        <p:spPr>
          <a:xfrm>
            <a:off x="760065" y="4038302"/>
            <a:ext cx="3846761" cy="38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 Euripide Medea è la "barbara"; nel film </a:t>
            </a:r>
            <a:pPr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8AB4C4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è il mondo intero a essere primitivo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5043041" y="1914971"/>
            <a:ext cx="36389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A6E65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Elementi dominanti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043041" y="2219771"/>
            <a:ext cx="213741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E8E0D5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💧</a:t>
            </a:r>
            <a:endParaRPr lang="en-US" sz="1680" dirty="0"/>
          </a:p>
        </p:txBody>
      </p:sp>
      <p:sp>
        <p:nvSpPr>
          <p:cNvPr id="12" name="Text 9"/>
          <p:cNvSpPr/>
          <p:nvPr/>
        </p:nvSpPr>
        <p:spPr>
          <a:xfrm>
            <a:off x="5347841" y="2271266"/>
            <a:ext cx="2545461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8AB4C4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Acqua — elemento primario del film</a:t>
            </a:r>
            <a:endParaRPr lang="en-US" sz="1140" dirty="0"/>
          </a:p>
        </p:txBody>
      </p:sp>
      <p:sp>
        <p:nvSpPr>
          <p:cNvPr id="13" name="Text 10"/>
          <p:cNvSpPr/>
          <p:nvPr/>
        </p:nvSpPr>
        <p:spPr>
          <a:xfrm>
            <a:off x="5043041" y="2635151"/>
            <a:ext cx="213741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E8E0D5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🌫️</a:t>
            </a:r>
            <a:endParaRPr lang="en-US" sz="1680" dirty="0"/>
          </a:p>
        </p:txBody>
      </p:sp>
      <p:sp>
        <p:nvSpPr>
          <p:cNvPr id="14" name="Text 11"/>
          <p:cNvSpPr/>
          <p:nvPr/>
        </p:nvSpPr>
        <p:spPr>
          <a:xfrm>
            <a:off x="5347841" y="2686645"/>
            <a:ext cx="1913954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Nebbia e pioggia continua</a:t>
            </a:r>
            <a:endParaRPr lang="en-US" sz="1140" dirty="0"/>
          </a:p>
        </p:txBody>
      </p:sp>
      <p:sp>
        <p:nvSpPr>
          <p:cNvPr id="15" name="Text 12"/>
          <p:cNvSpPr/>
          <p:nvPr/>
        </p:nvSpPr>
        <p:spPr>
          <a:xfrm>
            <a:off x="5043041" y="3050530"/>
            <a:ext cx="213741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E8E0D5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🪨</a:t>
            </a:r>
            <a:endParaRPr lang="en-US" sz="1680" dirty="0"/>
          </a:p>
        </p:txBody>
      </p:sp>
      <p:sp>
        <p:nvSpPr>
          <p:cNvPr id="16" name="Text 13"/>
          <p:cNvSpPr/>
          <p:nvPr/>
        </p:nvSpPr>
        <p:spPr>
          <a:xfrm>
            <a:off x="5347841" y="3102025"/>
            <a:ext cx="1049274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Fango e paludi</a:t>
            </a:r>
            <a:endParaRPr lang="en-US" sz="1140" dirty="0"/>
          </a:p>
        </p:txBody>
      </p:sp>
      <p:sp>
        <p:nvSpPr>
          <p:cNvPr id="17" name="Text 14"/>
          <p:cNvSpPr/>
          <p:nvPr/>
        </p:nvSpPr>
        <p:spPr>
          <a:xfrm>
            <a:off x="5043041" y="3465909"/>
            <a:ext cx="213741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E8E0D5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🌊</a:t>
            </a:r>
            <a:endParaRPr lang="en-US" sz="1680" dirty="0"/>
          </a:p>
        </p:txBody>
      </p:sp>
      <p:sp>
        <p:nvSpPr>
          <p:cNvPr id="18" name="Text 15"/>
          <p:cNvSpPr/>
          <p:nvPr/>
        </p:nvSpPr>
        <p:spPr>
          <a:xfrm>
            <a:off x="5347841" y="3517404"/>
            <a:ext cx="1680782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Mare instabile, arcaico</a:t>
            </a:r>
            <a:endParaRPr lang="en-US" sz="11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476696"/>
            <a:ext cx="1675954" cy="224879"/>
          </a:xfrm>
          <a:prstGeom prst="roundRect">
            <a:avLst>
              <a:gd name="adj" fmla="val 813237"/>
            </a:avLst>
          </a:prstGeom>
          <a:noFill/>
          <a:ln w="9525">
            <a:solidFill>
              <a:srgbClr val="C9A87A"/>
            </a:solidFill>
          </a:ln>
        </p:spPr>
        <p:txBody>
          <a:bodyPr wrap="square" lIns="95250" tIns="95250" rIns="95250" bIns="9525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C9A87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Slide 4 — Il personaggio</a:t>
            </a:r>
            <a:endParaRPr lang="en-US" sz="78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661666"/>
            <a:ext cx="571500" cy="190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400" y="3105299"/>
            <a:ext cx="3943350" cy="742652"/>
          </a:xfrm>
          <a:prstGeom prst="roundRect">
            <a:avLst>
              <a:gd name="adj" fmla="val 98501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C9A87A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33400" y="3943201"/>
            <a:ext cx="3943350" cy="742652"/>
          </a:xfrm>
          <a:prstGeom prst="roundRect">
            <a:avLst>
              <a:gd name="adj" fmla="val 98501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C9A87A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667250" y="1833116"/>
            <a:ext cx="3943350" cy="2272605"/>
          </a:xfrm>
          <a:prstGeom prst="roundRect">
            <a:avLst>
              <a:gd name="adj" fmla="val 48283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C9A87A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920555" y="3117056"/>
            <a:ext cx="3436739" cy="9525"/>
          </a:xfrm>
          <a:prstGeom prst="rect">
            <a:avLst/>
          </a:prstGeom>
          <a:solidFill>
            <a:srgbClr val="C9A87A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33400" y="823466"/>
            <a:ext cx="8238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E8E0D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Una </a:t>
            </a:r>
            <a:pPr indent="0" marL="0">
              <a:lnSpc>
                <a:spcPts val="5400"/>
              </a:lnSpc>
              <a:buNone/>
            </a:pPr>
            <a:r>
              <a:rPr lang="en-US" sz="3600" b="1" i="1" dirty="0">
                <a:solidFill>
                  <a:srgbClr val="E8E0D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Medea</a:t>
            </a:r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E8E0D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senza voce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33400" y="1833116"/>
            <a:ext cx="3943350" cy="111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5"/>
              </a:lnSpc>
              <a:buNone/>
            </a:pPr>
            <a:r>
              <a:rPr lang="en-US" sz="126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Kirsten Olesen interpreta una Medea quasi </a:t>
            </a:r>
            <a:pPr indent="0" marL="0">
              <a:lnSpc>
                <a:spcPts val="2205"/>
              </a:lnSpc>
              <a:buNone/>
            </a:pPr>
            <a:r>
              <a:rPr lang="en-US" sz="1260" b="1" dirty="0">
                <a:solidFill>
                  <a:srgbClr val="C9A87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silenziosa</a:t>
            </a:r>
            <a:pPr indent="0" marL="0">
              <a:lnSpc>
                <a:spcPts val="2205"/>
              </a:lnSpc>
              <a:buNone/>
            </a:pPr>
            <a:r>
              <a:rPr lang="en-US" sz="126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: parla pochissimo, sussurra, rimane immobile. Von Trier nega deliberatamente ogni elemento seduttivo o passionale.</a:t>
            </a:r>
            <a:endParaRPr lang="en-US" sz="1260" dirty="0"/>
          </a:p>
        </p:txBody>
      </p:sp>
      <p:sp>
        <p:nvSpPr>
          <p:cNvPr id="10" name="Text 7"/>
          <p:cNvSpPr/>
          <p:nvPr/>
        </p:nvSpPr>
        <p:spPr>
          <a:xfrm>
            <a:off x="760065" y="3282404"/>
            <a:ext cx="3509070" cy="38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Veste sempre di </a:t>
            </a:r>
            <a:pPr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6E8F7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nero</a:t>
            </a:r>
            <a:pPr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, sporca di fango, stanca — </a:t>
            </a:r>
            <a:pPr indent="0" marL="0">
              <a:lnSpc>
                <a:spcPts val="1530"/>
              </a:lnSpc>
              <a:buNone/>
            </a:pPr>
            <a:r>
              <a:rPr lang="en-US" sz="1020" i="1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quasi già morta interiormente</a:t>
            </a:r>
            <a:endParaRPr lang="en-US" sz="1020" dirty="0"/>
          </a:p>
        </p:txBody>
      </p:sp>
      <p:sp>
        <p:nvSpPr>
          <p:cNvPr id="11" name="Text 8"/>
          <p:cNvSpPr/>
          <p:nvPr/>
        </p:nvSpPr>
        <p:spPr>
          <a:xfrm>
            <a:off x="760065" y="4120307"/>
            <a:ext cx="3509070" cy="38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Sdraiata nel fango o immersa nell'acqua: </a:t>
            </a:r>
            <a:pPr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8AB4C4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già parte della natura</a:t>
            </a:r>
            <a:pPr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che la circonda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4920555" y="2055912"/>
            <a:ext cx="350547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A6E65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Euripide vs. Von Trier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920555" y="2360712"/>
            <a:ext cx="350547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C9A87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Euripide</a:t>
            </a:r>
            <a:endParaRPr lang="en-US" sz="960" dirty="0"/>
          </a:p>
        </p:txBody>
      </p:sp>
      <p:sp>
        <p:nvSpPr>
          <p:cNvPr id="14" name="Text 11"/>
          <p:cNvSpPr/>
          <p:nvPr/>
        </p:nvSpPr>
        <p:spPr>
          <a:xfrm>
            <a:off x="4920555" y="2572048"/>
            <a:ext cx="3436739" cy="411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Donna passionale, dominata dal conflitto. Parola come arma.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4920555" y="3259931"/>
            <a:ext cx="350547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8AB4C4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Von Trier</a:t>
            </a:r>
            <a:endParaRPr lang="en-US" sz="960" dirty="0"/>
          </a:p>
        </p:txBody>
      </p:sp>
      <p:sp>
        <p:nvSpPr>
          <p:cNvPr id="16" name="Text 13"/>
          <p:cNvSpPr/>
          <p:nvPr/>
        </p:nvSpPr>
        <p:spPr>
          <a:xfrm>
            <a:off x="4920555" y="3471267"/>
            <a:ext cx="3436739" cy="411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Figura astratta, simbolica, metafisica. Rabbia che implode.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8939" y="920502"/>
            <a:ext cx="1825972" cy="224879"/>
          </a:xfrm>
          <a:prstGeom prst="roundRect">
            <a:avLst>
              <a:gd name="adj" fmla="val 813237"/>
            </a:avLst>
          </a:prstGeom>
          <a:noFill/>
          <a:ln w="9525">
            <a:solidFill>
              <a:srgbClr val="C9A87A"/>
            </a:solidFill>
          </a:ln>
        </p:spPr>
        <p:txBody>
          <a:bodyPr wrap="square" lIns="95250" tIns="95250" rIns="95250" bIns="95250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C9A87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Slide 5 — Linguaggio visivo</a:t>
            </a:r>
            <a:endParaRPr lang="en-US" sz="78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6250" y="2120652"/>
            <a:ext cx="571500" cy="190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3500" y="3122265"/>
            <a:ext cx="3162300" cy="1119783"/>
          </a:xfrm>
          <a:prstGeom prst="roundRect">
            <a:avLst>
              <a:gd name="adj" fmla="val 9799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C9A87A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648200" y="3122265"/>
            <a:ext cx="3162300" cy="1119783"/>
          </a:xfrm>
          <a:prstGeom prst="roundRect">
            <a:avLst>
              <a:gd name="adj" fmla="val 9799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C9A87A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52628" y="1267271"/>
            <a:ext cx="8238744" cy="7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760"/>
              </a:lnSpc>
              <a:buNone/>
            </a:pPr>
            <a:r>
              <a:rPr lang="en-US" sz="3840" b="1" dirty="0">
                <a:solidFill>
                  <a:srgbClr val="E8E0D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Il paesaggio come stato mentale</a:t>
            </a:r>
            <a:endParaRPr lang="en-US" sz="3840" dirty="0"/>
          </a:p>
        </p:txBody>
      </p:sp>
      <p:sp>
        <p:nvSpPr>
          <p:cNvPr id="7" name="Text 4"/>
          <p:cNvSpPr/>
          <p:nvPr/>
        </p:nvSpPr>
        <p:spPr>
          <a:xfrm>
            <a:off x="1333500" y="2261592"/>
            <a:ext cx="6477000" cy="586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32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L'acqua invade continuamente lo spazio — maree, pioggia, nebbia, fango. Von Trier trasforma l'interiorità del personaggio in </a:t>
            </a:r>
            <a:pPr algn="ctr" indent="0" marL="0">
              <a:lnSpc>
                <a:spcPts val="2310"/>
              </a:lnSpc>
              <a:buNone/>
            </a:pPr>
            <a:r>
              <a:rPr lang="en-US" sz="1320" b="1" dirty="0">
                <a:solidFill>
                  <a:srgbClr val="8AB4C4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immagini concrete e fisiche</a:t>
            </a:r>
            <a:pPr algn="ctr" indent="0" marL="0">
              <a:lnSpc>
                <a:spcPts val="2310"/>
              </a:lnSpc>
              <a:buNone/>
            </a:pPr>
            <a:r>
              <a:rPr lang="en-US" sz="132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1586805" y="3345061"/>
            <a:ext cx="2708803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C9A87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Euripide</a:t>
            </a:r>
            <a:endParaRPr lang="en-US" sz="960" dirty="0"/>
          </a:p>
        </p:txBody>
      </p:sp>
      <p:sp>
        <p:nvSpPr>
          <p:cNvPr id="9" name="Text 6"/>
          <p:cNvSpPr/>
          <p:nvPr/>
        </p:nvSpPr>
        <p:spPr>
          <a:xfrm>
            <a:off x="1586805" y="3584972"/>
            <a:ext cx="2655689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Il conflitto interiore espresso attraverso la </a:t>
            </a:r>
            <a:pPr algn="l" indent="0" marL="0">
              <a:lnSpc>
                <a:spcPts val="1710"/>
              </a:lnSpc>
              <a:buNone/>
            </a:pPr>
            <a:r>
              <a:rPr lang="en-US" sz="1140" b="1" dirty="0">
                <a:solidFill>
                  <a:srgbClr val="C9A87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parola</a:t>
            </a:r>
            <a:pPr algn="l"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e i monologhi</a:t>
            </a:r>
            <a:endParaRPr lang="en-US" sz="1140" dirty="0"/>
          </a:p>
        </p:txBody>
      </p:sp>
      <p:sp>
        <p:nvSpPr>
          <p:cNvPr id="10" name="Text 7"/>
          <p:cNvSpPr/>
          <p:nvPr/>
        </p:nvSpPr>
        <p:spPr>
          <a:xfrm>
            <a:off x="4901505" y="3345061"/>
            <a:ext cx="2708803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8AB4C4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Von Trier</a:t>
            </a:r>
            <a:endParaRPr lang="en-US" sz="960" dirty="0"/>
          </a:p>
        </p:txBody>
      </p:sp>
      <p:sp>
        <p:nvSpPr>
          <p:cNvPr id="11" name="Text 8"/>
          <p:cNvSpPr/>
          <p:nvPr/>
        </p:nvSpPr>
        <p:spPr>
          <a:xfrm>
            <a:off x="4901505" y="3584972"/>
            <a:ext cx="2655689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Il dolore espresso attraverso il </a:t>
            </a:r>
            <a:pPr algn="l" indent="0" marL="0">
              <a:lnSpc>
                <a:spcPts val="1710"/>
              </a:lnSpc>
              <a:buNone/>
            </a:pPr>
            <a:r>
              <a:rPr lang="en-US" sz="1140" b="1" dirty="0">
                <a:solidFill>
                  <a:srgbClr val="8AB4C4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paesaggio</a:t>
            </a:r>
            <a:pPr algn="l"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visivo, simbolico, fisico</a:t>
            </a:r>
            <a:endParaRPr lang="en-US" sz="11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600224"/>
            <a:ext cx="1211759" cy="224879"/>
          </a:xfrm>
          <a:prstGeom prst="roundRect">
            <a:avLst>
              <a:gd name="adj" fmla="val 813237"/>
            </a:avLst>
          </a:prstGeom>
          <a:noFill/>
          <a:ln w="9525">
            <a:solidFill>
              <a:srgbClr val="C9A87A"/>
            </a:solidFill>
          </a:ln>
        </p:spPr>
        <p:txBody>
          <a:bodyPr wrap="square" lIns="95250" tIns="95250" rIns="95250" bIns="9525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C9A87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Slide 6 — Il coro</a:t>
            </a:r>
            <a:endParaRPr lang="en-US" sz="78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785193"/>
            <a:ext cx="571500" cy="190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76775" y="2242393"/>
            <a:ext cx="3933825" cy="697111"/>
          </a:xfrm>
          <a:prstGeom prst="roundRect">
            <a:avLst>
              <a:gd name="adj" fmla="val 104936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C9A87A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676775" y="3053804"/>
            <a:ext cx="3933825" cy="697111"/>
          </a:xfrm>
          <a:prstGeom prst="roundRect">
            <a:avLst>
              <a:gd name="adj" fmla="val 104936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C9A87A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676775" y="3865215"/>
            <a:ext cx="3933825" cy="697111"/>
          </a:xfrm>
          <a:prstGeom prst="roundRect">
            <a:avLst>
              <a:gd name="adj" fmla="val 104936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C9A87A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33400" y="946993"/>
            <a:ext cx="8238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E8E0D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L'eliminazione del coro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33400" y="1956643"/>
            <a:ext cx="3933825" cy="839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5"/>
              </a:lnSpc>
              <a:buNone/>
            </a:pPr>
            <a:r>
              <a:rPr lang="en-US" sz="126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Nella tragedia greca il coro commentava gli eventi e rappresentava la </a:t>
            </a:r>
            <a:pPr indent="0" marL="0">
              <a:lnSpc>
                <a:spcPts val="2205"/>
              </a:lnSpc>
              <a:buNone/>
            </a:pPr>
            <a:r>
              <a:rPr lang="en-US" sz="1260" i="1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voce collettiva della polis</a:t>
            </a:r>
            <a:pPr indent="0" marL="0">
              <a:lnSpc>
                <a:spcPts val="2205"/>
              </a:lnSpc>
              <a:buNone/>
            </a:pPr>
            <a:r>
              <a:rPr lang="en-US" sz="126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 Von Trier lo elimina completamente.</a:t>
            </a:r>
            <a:endParaRPr lang="en-US" sz="1260" dirty="0"/>
          </a:p>
        </p:txBody>
      </p:sp>
      <p:sp>
        <p:nvSpPr>
          <p:cNvPr id="9" name="Text 6"/>
          <p:cNvSpPr/>
          <p:nvPr/>
        </p:nvSpPr>
        <p:spPr>
          <a:xfrm>
            <a:off x="533400" y="2979241"/>
            <a:ext cx="3933825" cy="839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5"/>
              </a:lnSpc>
              <a:buNone/>
            </a:pPr>
            <a:r>
              <a:rPr lang="en-US" sz="126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La tragedia perde il carattere </a:t>
            </a:r>
            <a:pPr indent="0" marL="0">
              <a:lnSpc>
                <a:spcPts val="2205"/>
              </a:lnSpc>
              <a:buNone/>
            </a:pPr>
            <a:r>
              <a:rPr lang="en-US" sz="1260" b="1" dirty="0">
                <a:solidFill>
                  <a:srgbClr val="C9A87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collettivo e politico</a:t>
            </a:r>
            <a:pPr indent="0" marL="0">
              <a:lnSpc>
                <a:spcPts val="2205"/>
              </a:lnSpc>
              <a:buNone/>
            </a:pPr>
            <a:r>
              <a:rPr lang="en-US" sz="126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e diventa un dramma totalmente interiore: la storia isolata di una donna sola contro il mondo.</a:t>
            </a:r>
            <a:endParaRPr lang="en-US" sz="1260" dirty="0"/>
          </a:p>
        </p:txBody>
      </p:sp>
      <p:sp>
        <p:nvSpPr>
          <p:cNvPr id="10" name="Text 7"/>
          <p:cNvSpPr/>
          <p:nvPr/>
        </p:nvSpPr>
        <p:spPr>
          <a:xfrm>
            <a:off x="4676775" y="1956643"/>
            <a:ext cx="40125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A6E65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Al posto del coro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903440" y="2419499"/>
            <a:ext cx="2331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0D5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🔇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246340" y="2482304"/>
            <a:ext cx="553784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Silenzio</a:t>
            </a:r>
            <a:endParaRPr lang="en-US" sz="1140" dirty="0"/>
          </a:p>
        </p:txBody>
      </p:sp>
      <p:sp>
        <p:nvSpPr>
          <p:cNvPr id="13" name="Text 10"/>
          <p:cNvSpPr/>
          <p:nvPr/>
        </p:nvSpPr>
        <p:spPr>
          <a:xfrm>
            <a:off x="4903440" y="3230910"/>
            <a:ext cx="2331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0D5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🌬️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246340" y="3293715"/>
            <a:ext cx="1661350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Vento e rumori naturali</a:t>
            </a:r>
            <a:endParaRPr lang="en-US" sz="1140" dirty="0"/>
          </a:p>
        </p:txBody>
      </p:sp>
      <p:sp>
        <p:nvSpPr>
          <p:cNvPr id="15" name="Text 12"/>
          <p:cNvSpPr/>
          <p:nvPr/>
        </p:nvSpPr>
        <p:spPr>
          <a:xfrm>
            <a:off x="4903440" y="4042321"/>
            <a:ext cx="2331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0D5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🌊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246340" y="4105126"/>
            <a:ext cx="2079117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Acqua — l'unica voce rimasta</a:t>
            </a:r>
            <a:endParaRPr lang="en-US" sz="1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758279"/>
            <a:ext cx="1733104" cy="224879"/>
          </a:xfrm>
          <a:prstGeom prst="roundRect">
            <a:avLst>
              <a:gd name="adj" fmla="val 813237"/>
            </a:avLst>
          </a:prstGeom>
          <a:noFill/>
          <a:ln w="9525">
            <a:solidFill>
              <a:srgbClr val="C9A87A"/>
            </a:solidFill>
          </a:ln>
        </p:spPr>
        <p:txBody>
          <a:bodyPr wrap="square" lIns="95250" tIns="95250" rIns="95250" bIns="9525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C9A87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Slide 7 — Scena centrale</a:t>
            </a:r>
            <a:endParaRPr lang="en-US" sz="78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943249"/>
            <a:ext cx="571500" cy="190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7250" y="2114699"/>
            <a:ext cx="3943350" cy="1087636"/>
          </a:xfrm>
          <a:prstGeom prst="roundRect">
            <a:avLst>
              <a:gd name="adj" fmla="val 100887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C9A87A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667250" y="3316635"/>
            <a:ext cx="3943350" cy="1087636"/>
          </a:xfrm>
          <a:prstGeom prst="roundRect">
            <a:avLst>
              <a:gd name="adj" fmla="val 100887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C9A87A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33400" y="1105049"/>
            <a:ext cx="8238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E8E0D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L'infanticidio come sacrificio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33400" y="2114699"/>
            <a:ext cx="3943350" cy="111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5"/>
              </a:lnSpc>
              <a:buNone/>
            </a:pPr>
            <a:r>
              <a:rPr lang="en-US" sz="126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 Euripide l'uccisione avviene </a:t>
            </a:r>
            <a:pPr indent="0" marL="0">
              <a:lnSpc>
                <a:spcPts val="2205"/>
              </a:lnSpc>
              <a:buNone/>
            </a:pPr>
            <a:r>
              <a:rPr lang="en-US" sz="1260" i="1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fuori scena</a:t>
            </a:r>
            <a:pPr indent="0" marL="0">
              <a:lnSpc>
                <a:spcPts val="2205"/>
              </a:lnSpc>
              <a:buNone/>
            </a:pPr>
            <a:r>
              <a:rPr lang="en-US" sz="126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 Von Trier invece la mostra direttamente, trasformandola in un </a:t>
            </a:r>
            <a:pPr indent="0" marL="0">
              <a:lnSpc>
                <a:spcPts val="2205"/>
              </a:lnSpc>
              <a:buNone/>
            </a:pPr>
            <a:r>
              <a:rPr lang="en-US" sz="1260" b="1" dirty="0">
                <a:solidFill>
                  <a:srgbClr val="C9A87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rito simbolico e quasi cristologico</a:t>
            </a:r>
            <a:pPr indent="0" marL="0">
              <a:lnSpc>
                <a:spcPts val="2205"/>
              </a:lnSpc>
              <a:buNone/>
            </a:pPr>
            <a:r>
              <a:rPr lang="en-US" sz="126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</a:t>
            </a:r>
            <a:endParaRPr lang="en-US" sz="1260" dirty="0"/>
          </a:p>
        </p:txBody>
      </p:sp>
      <p:sp>
        <p:nvSpPr>
          <p:cNvPr id="8" name="Text 5"/>
          <p:cNvSpPr/>
          <p:nvPr/>
        </p:nvSpPr>
        <p:spPr>
          <a:xfrm>
            <a:off x="533400" y="3402062"/>
            <a:ext cx="3943350" cy="839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5"/>
              </a:lnSpc>
              <a:buNone/>
            </a:pPr>
            <a:r>
              <a:rPr lang="en-US" sz="126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Il figlio maggiore sembra </a:t>
            </a:r>
            <a:pPr indent="0" marL="0">
              <a:lnSpc>
                <a:spcPts val="2205"/>
              </a:lnSpc>
              <a:buNone/>
            </a:pPr>
            <a:r>
              <a:rPr lang="en-US" sz="1260" i="1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accettare</a:t>
            </a:r>
            <a:pPr indent="0" marL="0">
              <a:lnSpc>
                <a:spcPts val="2205"/>
              </a:lnSpc>
              <a:buNone/>
            </a:pPr>
            <a:r>
              <a:rPr lang="en-US" sz="126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il proprio destino. L'infanticidio non è solo vendetta: diventa un </a:t>
            </a:r>
            <a:pPr indent="0" marL="0">
              <a:lnSpc>
                <a:spcPts val="2205"/>
              </a:lnSpc>
              <a:buNone/>
            </a:pPr>
            <a:r>
              <a:rPr lang="en-US" sz="1260" b="1" dirty="0">
                <a:solidFill>
                  <a:srgbClr val="8AB4C4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sacrificio necessario</a:t>
            </a:r>
            <a:pPr indent="0" marL="0">
              <a:lnSpc>
                <a:spcPts val="2205"/>
              </a:lnSpc>
              <a:buNone/>
            </a:pPr>
            <a:r>
              <a:rPr lang="en-US" sz="126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</a:t>
            </a:r>
            <a:endParaRPr lang="en-US" sz="1260" dirty="0"/>
          </a:p>
        </p:txBody>
      </p:sp>
      <p:sp>
        <p:nvSpPr>
          <p:cNvPr id="9" name="Text 6"/>
          <p:cNvSpPr/>
          <p:nvPr/>
        </p:nvSpPr>
        <p:spPr>
          <a:xfrm>
            <a:off x="4920555" y="2337495"/>
            <a:ext cx="350547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C9A87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Euripide</a:t>
            </a:r>
            <a:endParaRPr lang="en-US" sz="960" dirty="0"/>
          </a:p>
        </p:txBody>
      </p:sp>
      <p:sp>
        <p:nvSpPr>
          <p:cNvPr id="10" name="Text 7"/>
          <p:cNvSpPr/>
          <p:nvPr/>
        </p:nvSpPr>
        <p:spPr>
          <a:xfrm>
            <a:off x="4920555" y="2567880"/>
            <a:ext cx="3436739" cy="411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Infanticidio come atto di </a:t>
            </a:r>
            <a:pPr indent="0" marL="0">
              <a:lnSpc>
                <a:spcPts val="1620"/>
              </a:lnSpc>
              <a:buNone/>
            </a:pPr>
            <a:r>
              <a:rPr lang="en-US" sz="1080" i="1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vendetta</a:t>
            </a:r>
            <a:pPr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contro Giasone. Fuori scena, narrato.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4920555" y="3539430"/>
            <a:ext cx="350547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8AB4C4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Von Trier</a:t>
            </a:r>
            <a:endParaRPr lang="en-US" sz="960" dirty="0"/>
          </a:p>
        </p:txBody>
      </p:sp>
      <p:sp>
        <p:nvSpPr>
          <p:cNvPr id="12" name="Text 9"/>
          <p:cNvSpPr/>
          <p:nvPr/>
        </p:nvSpPr>
        <p:spPr>
          <a:xfrm>
            <a:off x="4920555" y="3769816"/>
            <a:ext cx="3436739" cy="411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Bambini impiccati vicino a una croce. Simbolismo </a:t>
            </a:r>
            <a:pPr indent="0" marL="0">
              <a:lnSpc>
                <a:spcPts val="1620"/>
              </a:lnSpc>
              <a:buNone/>
            </a:pPr>
            <a:r>
              <a:rPr lang="en-US" sz="1080" i="1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religioso, liturgico</a:t>
            </a:r>
            <a:pPr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 Mostrato.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006971"/>
            <a:ext cx="1142702" cy="224879"/>
          </a:xfrm>
          <a:prstGeom prst="roundRect">
            <a:avLst>
              <a:gd name="adj" fmla="val 813237"/>
            </a:avLst>
          </a:prstGeom>
          <a:noFill/>
          <a:ln w="9525">
            <a:solidFill>
              <a:srgbClr val="C9A87A"/>
            </a:solidFill>
          </a:ln>
        </p:spPr>
        <p:txBody>
          <a:bodyPr wrap="square" lIns="95250" tIns="95250" rIns="95250" bIns="9525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C9A87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Slide 8 — Finale</a:t>
            </a:r>
            <a:endParaRPr lang="en-US" sz="78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2191941"/>
            <a:ext cx="571500" cy="190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400" y="3136553"/>
            <a:ext cx="3962400" cy="1018877"/>
          </a:xfrm>
          <a:prstGeom prst="roundRect">
            <a:avLst>
              <a:gd name="adj" fmla="val 71797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C9A87A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648200" y="3136553"/>
            <a:ext cx="3962400" cy="1018877"/>
          </a:xfrm>
          <a:prstGeom prst="roundRect">
            <a:avLst>
              <a:gd name="adj" fmla="val 71797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C9A87A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33400" y="1353741"/>
            <a:ext cx="8238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E8E0D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Il finale trasformato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33400" y="2363391"/>
            <a:ext cx="8077200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5"/>
              </a:lnSpc>
              <a:buNone/>
            </a:pPr>
            <a:r>
              <a:rPr lang="en-US" sz="126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 Euripide Medea fugge sul </a:t>
            </a:r>
            <a:pPr indent="0" marL="0">
              <a:lnSpc>
                <a:spcPts val="2205"/>
              </a:lnSpc>
              <a:buNone/>
            </a:pPr>
            <a:r>
              <a:rPr lang="en-US" sz="1260" i="1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carro del sole</a:t>
            </a:r>
            <a:pPr indent="0" marL="0">
              <a:lnSpc>
                <a:spcPts val="2205"/>
              </a:lnSpc>
              <a:buNone/>
            </a:pPr>
            <a:r>
              <a:rPr lang="en-US" sz="126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di Helios — eroica e soprannaturale. Von Trier elimina questo elemento mitologico e lo sostituisce con un finale </a:t>
            </a:r>
            <a:pPr indent="0" marL="0">
              <a:lnSpc>
                <a:spcPts val="2205"/>
              </a:lnSpc>
              <a:buNone/>
            </a:pPr>
            <a:r>
              <a:rPr lang="en-US" sz="1260" b="1" dirty="0">
                <a:solidFill>
                  <a:srgbClr val="8AB4C4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ambiguo, malinconico e metafisico</a:t>
            </a:r>
            <a:pPr indent="0" marL="0">
              <a:lnSpc>
                <a:spcPts val="2205"/>
              </a:lnSpc>
              <a:buNone/>
            </a:pPr>
            <a:r>
              <a:rPr lang="en-US" sz="126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</a:t>
            </a:r>
            <a:endParaRPr lang="en-US" sz="1260" dirty="0"/>
          </a:p>
        </p:txBody>
      </p:sp>
      <p:sp>
        <p:nvSpPr>
          <p:cNvPr id="8" name="Text 5"/>
          <p:cNvSpPr/>
          <p:nvPr/>
        </p:nvSpPr>
        <p:spPr>
          <a:xfrm>
            <a:off x="760065" y="3313658"/>
            <a:ext cx="359868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8AB4C4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Medea</a:t>
            </a:r>
            <a:endParaRPr lang="en-US" sz="960" dirty="0"/>
          </a:p>
        </p:txBody>
      </p:sp>
      <p:sp>
        <p:nvSpPr>
          <p:cNvPr id="9" name="Text 6"/>
          <p:cNvSpPr/>
          <p:nvPr/>
        </p:nvSpPr>
        <p:spPr>
          <a:xfrm>
            <a:off x="760065" y="3544044"/>
            <a:ext cx="352812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Si allontana sul mare, quasi dissolvendosi nell'acqua — il suo elemento naturale</a:t>
            </a:r>
            <a:endParaRPr lang="en-US" sz="1140" dirty="0"/>
          </a:p>
        </p:txBody>
      </p:sp>
      <p:sp>
        <p:nvSpPr>
          <p:cNvPr id="10" name="Text 7"/>
          <p:cNvSpPr/>
          <p:nvPr/>
        </p:nvSpPr>
        <p:spPr>
          <a:xfrm>
            <a:off x="4874865" y="3313658"/>
            <a:ext cx="359868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C9A87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Giasone</a:t>
            </a:r>
            <a:endParaRPr lang="en-US" sz="960" dirty="0"/>
          </a:p>
        </p:txBody>
      </p:sp>
      <p:sp>
        <p:nvSpPr>
          <p:cNvPr id="11" name="Text 8"/>
          <p:cNvSpPr/>
          <p:nvPr/>
        </p:nvSpPr>
        <p:spPr>
          <a:xfrm>
            <a:off x="4874865" y="3544044"/>
            <a:ext cx="352812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Rimane immobile e sconfitto, quasi inghiottito dalla terra e dall'erba scura</a:t>
            </a:r>
            <a:endParaRPr lang="en-US" sz="11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827931"/>
            <a:ext cx="1754535" cy="224879"/>
          </a:xfrm>
          <a:prstGeom prst="roundRect">
            <a:avLst>
              <a:gd name="adj" fmla="val 813237"/>
            </a:avLst>
          </a:prstGeom>
          <a:noFill/>
          <a:ln w="9525">
            <a:solidFill>
              <a:srgbClr val="C9A87A"/>
            </a:solidFill>
          </a:ln>
        </p:spPr>
        <p:txBody>
          <a:bodyPr wrap="square" lIns="95250" tIns="95250" rIns="95250" bIns="9525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C9A87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Slide 9 — Interpretazione</a:t>
            </a:r>
            <a:endParaRPr lang="en-US" sz="78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2012900"/>
            <a:ext cx="571500" cy="190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400" y="3237458"/>
            <a:ext cx="3962400" cy="1097161"/>
          </a:xfrm>
          <a:prstGeom prst="roundRect">
            <a:avLst>
              <a:gd name="adj" fmla="val 100011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C9A87A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648200" y="3237458"/>
            <a:ext cx="3962400" cy="1097161"/>
          </a:xfrm>
          <a:prstGeom prst="roundRect">
            <a:avLst>
              <a:gd name="adj" fmla="val 100011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C9A87A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33400" y="1174700"/>
            <a:ext cx="8238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E8E0D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Più simbolica che umana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33400" y="2184350"/>
            <a:ext cx="8077200" cy="839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5"/>
              </a:lnSpc>
              <a:buNone/>
            </a:pPr>
            <a:r>
              <a:rPr lang="en-US" sz="126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La Medea di Euripide era profondamente umana: </a:t>
            </a:r>
            <a:pPr indent="0" marL="0">
              <a:lnSpc>
                <a:spcPts val="2205"/>
              </a:lnSpc>
              <a:buNone/>
            </a:pPr>
            <a:r>
              <a:rPr lang="en-US" sz="1260" i="1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amava i figli e li uccideva comunque</a:t>
            </a:r>
            <a:pPr indent="0" marL="0">
              <a:lnSpc>
                <a:spcPts val="2205"/>
              </a:lnSpc>
              <a:buNone/>
            </a:pPr>
            <a:r>
              <a:rPr lang="en-US" sz="126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 Von Trier riduce questo conflitto psicologico: la sua protagonista appare quasi già svuotata, </a:t>
            </a:r>
            <a:pPr indent="0" marL="0">
              <a:lnSpc>
                <a:spcPts val="2205"/>
              </a:lnSpc>
              <a:buNone/>
            </a:pPr>
            <a:r>
              <a:rPr lang="en-US" sz="1260" b="1" dirty="0">
                <a:solidFill>
                  <a:srgbClr val="C9A87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più figura assoluta che donna</a:t>
            </a:r>
            <a:pPr indent="0" marL="0">
              <a:lnSpc>
                <a:spcPts val="2205"/>
              </a:lnSpc>
              <a:buNone/>
            </a:pPr>
            <a:r>
              <a:rPr lang="en-US" sz="126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</a:t>
            </a:r>
            <a:endParaRPr lang="en-US" sz="1260" dirty="0"/>
          </a:p>
        </p:txBody>
      </p:sp>
      <p:sp>
        <p:nvSpPr>
          <p:cNvPr id="8" name="Text 5"/>
          <p:cNvSpPr/>
          <p:nvPr/>
        </p:nvSpPr>
        <p:spPr>
          <a:xfrm>
            <a:off x="786705" y="3460254"/>
            <a:ext cx="352490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6E8F7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Cosa si guadagna</a:t>
            </a:r>
            <a:endParaRPr lang="en-US" sz="960" dirty="0"/>
          </a:p>
        </p:txBody>
      </p:sp>
      <p:sp>
        <p:nvSpPr>
          <p:cNvPr id="9" name="Text 6"/>
          <p:cNvSpPr/>
          <p:nvPr/>
        </p:nvSpPr>
        <p:spPr>
          <a:xfrm>
            <a:off x="786705" y="3700165"/>
            <a:ext cx="3455789" cy="411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Forza poetica, simbolismo visivo, lettura femminista della ribellione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4901505" y="3460254"/>
            <a:ext cx="352490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C9A87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Cosa si perde</a:t>
            </a:r>
            <a:endParaRPr lang="en-US" sz="960" dirty="0"/>
          </a:p>
        </p:txBody>
      </p:sp>
      <p:sp>
        <p:nvSpPr>
          <p:cNvPr id="11" name="Text 8"/>
          <p:cNvSpPr/>
          <p:nvPr/>
        </p:nvSpPr>
        <p:spPr>
          <a:xfrm>
            <a:off x="4901505" y="3700165"/>
            <a:ext cx="3455789" cy="411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Parte della complessità psicologica e dell'ambiguità umana del personaggio</a:t>
            </a:r>
            <a:endParaRPr lang="en-US" sz="10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69668" y="944910"/>
            <a:ext cx="1604665" cy="224879"/>
          </a:xfrm>
          <a:prstGeom prst="roundRect">
            <a:avLst>
              <a:gd name="adj" fmla="val 813237"/>
            </a:avLst>
          </a:prstGeom>
          <a:noFill/>
          <a:ln w="9525">
            <a:solidFill>
              <a:srgbClr val="C9A87A"/>
            </a:solidFill>
          </a:ln>
        </p:spPr>
        <p:txBody>
          <a:bodyPr wrap="square" lIns="95250" tIns="95250" rIns="95250" bIns="95250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C9A87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Slide 10 — Conclusione</a:t>
            </a:r>
            <a:endParaRPr lang="en-US" sz="78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310729"/>
            <a:ext cx="3900488" cy="95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48188" y="1291679"/>
            <a:ext cx="47625" cy="47625"/>
          </a:xfrm>
          <a:prstGeom prst="roundRect">
            <a:avLst>
              <a:gd name="adj" fmla="val 9600000"/>
            </a:avLst>
          </a:prstGeom>
          <a:solidFill>
            <a:srgbClr val="C9A87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113" y="1310729"/>
            <a:ext cx="3900488" cy="95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3400" y="2482155"/>
            <a:ext cx="2603450" cy="1211312"/>
          </a:xfrm>
          <a:prstGeom prst="roundRect">
            <a:avLst>
              <a:gd name="adj" fmla="val 90586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C9A87A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3270200" y="2482155"/>
            <a:ext cx="2603450" cy="1211312"/>
          </a:xfrm>
          <a:prstGeom prst="roundRect">
            <a:avLst>
              <a:gd name="adj" fmla="val 90586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C9A87A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6007001" y="2482155"/>
            <a:ext cx="2603599" cy="1211312"/>
          </a:xfrm>
          <a:prstGeom prst="roundRect">
            <a:avLst>
              <a:gd name="adj" fmla="val 90586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C9A87A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452628" y="1522065"/>
            <a:ext cx="8238744" cy="777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120"/>
              </a:lnSpc>
              <a:buNone/>
            </a:pPr>
            <a:r>
              <a:rPr lang="en-US" sz="4080" b="1" dirty="0">
                <a:solidFill>
                  <a:srgbClr val="E8E0D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Una trasformazione radicale del mito</a:t>
            </a:r>
            <a:endParaRPr lang="en-US" sz="4080" dirty="0"/>
          </a:p>
        </p:txBody>
      </p:sp>
      <p:sp>
        <p:nvSpPr>
          <p:cNvPr id="10" name="Text 6"/>
          <p:cNvSpPr/>
          <p:nvPr/>
        </p:nvSpPr>
        <p:spPr>
          <a:xfrm>
            <a:off x="786705" y="2704951"/>
            <a:ext cx="2138776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E8E0D5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🗣️→🔇</a:t>
            </a:r>
            <a:endParaRPr lang="en-US" sz="1680" dirty="0"/>
          </a:p>
        </p:txBody>
      </p:sp>
      <p:sp>
        <p:nvSpPr>
          <p:cNvPr id="11" name="Text 7"/>
          <p:cNvSpPr/>
          <p:nvPr/>
        </p:nvSpPr>
        <p:spPr>
          <a:xfrm>
            <a:off x="786705" y="3082230"/>
            <a:ext cx="213877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La </a:t>
            </a:r>
            <a:pPr algn="l"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C9A87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parola</a:t>
            </a:r>
            <a:pPr algn="l"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diventa </a:t>
            </a:r>
            <a:pPr algn="l" indent="0" marL="0">
              <a:lnSpc>
                <a:spcPts val="1530"/>
              </a:lnSpc>
              <a:buNone/>
            </a:pPr>
            <a:r>
              <a:rPr lang="en-US" sz="1020" i="1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silenzio</a:t>
            </a:r>
            <a:endParaRPr lang="en-US" sz="1020" dirty="0"/>
          </a:p>
        </p:txBody>
      </p:sp>
      <p:sp>
        <p:nvSpPr>
          <p:cNvPr id="12" name="Text 8"/>
          <p:cNvSpPr/>
          <p:nvPr/>
        </p:nvSpPr>
        <p:spPr>
          <a:xfrm>
            <a:off x="3523506" y="2704951"/>
            <a:ext cx="2138776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E8E0D5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🧠→🌊</a:t>
            </a:r>
            <a:endParaRPr lang="en-US" sz="1680" dirty="0"/>
          </a:p>
        </p:txBody>
      </p:sp>
      <p:sp>
        <p:nvSpPr>
          <p:cNvPr id="13" name="Text 9"/>
          <p:cNvSpPr/>
          <p:nvPr/>
        </p:nvSpPr>
        <p:spPr>
          <a:xfrm>
            <a:off x="3523506" y="3082230"/>
            <a:ext cx="213877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Il </a:t>
            </a:r>
            <a:pPr algn="l"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8AB4C4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conflitto</a:t>
            </a:r>
            <a:pPr algn="l"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diventa </a:t>
            </a:r>
            <a:pPr algn="l" indent="0" marL="0">
              <a:lnSpc>
                <a:spcPts val="1530"/>
              </a:lnSpc>
              <a:buNone/>
            </a:pPr>
            <a:r>
              <a:rPr lang="en-US" sz="1020" i="1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paesaggio</a:t>
            </a:r>
            <a:endParaRPr lang="en-US" sz="1020" dirty="0"/>
          </a:p>
        </p:txBody>
      </p:sp>
      <p:sp>
        <p:nvSpPr>
          <p:cNvPr id="14" name="Text 10"/>
          <p:cNvSpPr/>
          <p:nvPr/>
        </p:nvSpPr>
        <p:spPr>
          <a:xfrm>
            <a:off x="6260306" y="2704951"/>
            <a:ext cx="2138928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E8E0D5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🏛️→👤</a:t>
            </a:r>
            <a:endParaRPr lang="en-US" sz="1680" dirty="0"/>
          </a:p>
        </p:txBody>
      </p:sp>
      <p:sp>
        <p:nvSpPr>
          <p:cNvPr id="15" name="Text 11"/>
          <p:cNvSpPr/>
          <p:nvPr/>
        </p:nvSpPr>
        <p:spPr>
          <a:xfrm>
            <a:off x="6260306" y="3082230"/>
            <a:ext cx="2096988" cy="38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La tragedia </a:t>
            </a:r>
            <a:pPr algn="l"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6E8F7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pubblica</a:t>
            </a:r>
            <a:pPr algn="l"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diventa </a:t>
            </a:r>
            <a:pPr algn="l" indent="0" marL="0">
              <a:lnSpc>
                <a:spcPts val="1530"/>
              </a:lnSpc>
              <a:buNone/>
            </a:pPr>
            <a:r>
              <a:rPr lang="en-US" sz="1020" i="1" dirty="0">
                <a:solidFill>
                  <a:srgbClr val="B8A99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esperienza individuale</a:t>
            </a:r>
            <a:endParaRPr lang="en-US" sz="1020" dirty="0"/>
          </a:p>
        </p:txBody>
      </p:sp>
      <p:sp>
        <p:nvSpPr>
          <p:cNvPr id="16" name="Text 12"/>
          <p:cNvSpPr/>
          <p:nvPr/>
        </p:nvSpPr>
        <p:spPr>
          <a:xfrm>
            <a:off x="1560195" y="3906738"/>
            <a:ext cx="6023610" cy="310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48"/>
              </a:lnSpc>
              <a:buNone/>
            </a:pPr>
            <a:r>
              <a:rPr lang="en-US" sz="1440" i="1" dirty="0">
                <a:solidFill>
                  <a:srgbClr val="B8A99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Una delle reinterpretazioni cinematografiche più originali e inquietanti del mito antico.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2026-05-23T19:27:48Z</dcterms:created>
  <dcterms:modified xsi:type="dcterms:W3CDTF">2026-05-23T19:27:48Z</dcterms:modified>
</cp:coreProperties>
</file>